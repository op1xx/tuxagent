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handoutMasters/handoutMaster1.xml" ContentType="application/vnd.openxmlformats-officedocument.presentationml.handoutMaster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8288000" cy="10287000"/>
  <p:notesSz cx="10287000" cy="18288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51" d="100"/>
          <a:sy n="51" d="100"/>
        </p:scale>
        <p:origin x="638" y="29"/>
      </p:cViewPr>
      <p:guideLst>
        <p:guide pos="5760"/>
        <p:guide pos="324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60691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4457700" cy="91757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327462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5829300" y="0"/>
            <a:ext cx="4457700" cy="91757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DA13EBAA-842B-EB27-6FB3-B4083E55FD35}" type="datetimeFigureOut">
              <a:rPr lang="en-US"/>
              <a:t/>
            </a:fld>
            <a:endParaRPr/>
          </a:p>
        </p:txBody>
      </p:sp>
      <p:sp>
        <p:nvSpPr>
          <p:cNvPr id="1283084905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17370426"/>
            <a:ext cx="4457700" cy="917572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6121099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829300" y="17370426"/>
            <a:ext cx="4457700" cy="917572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E4F2DF46-862C-6294-45B0-03868A7C27E7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96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173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0540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47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8636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8224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319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324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0929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056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8344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4685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20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391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460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7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589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6922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02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1262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413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01968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32520" y="483489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83767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32520" y="483489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>
              <a:defRPr/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1" hdr="0" sldNum="1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media2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media1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media2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media1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media1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media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697986" name="Text 0"/>
          <p:cNvSpPr/>
          <p:nvPr/>
        </p:nvSpPr>
        <p:spPr bwMode="auto">
          <a:xfrm>
            <a:off x="914400" y="3514725"/>
            <a:ext cx="8229600" cy="325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0"/>
              </a:lnSpc>
              <a:buNone/>
              <a:defRPr/>
            </a:pPr>
            <a:r>
              <a:rPr lang="en-US" sz="11500" b="1">
                <a:solidFill>
                  <a:srgbClr val="FFFFFF"/>
                </a:solidFill>
                <a:latin typeface="Montserrat SemiBold"/>
                <a:ea typeface="Montserrat Medium"/>
                <a:cs typeface="Montserrat Medium"/>
              </a:rPr>
              <a:t>TuxAgent</a:t>
            </a:r>
            <a:endParaRPr lang="en-US" sz="11500" b="1">
              <a:latin typeface="Montserrat SemiBold"/>
            </a:endParaRPr>
          </a:p>
        </p:txBody>
      </p:sp>
      <p:sp>
        <p:nvSpPr>
          <p:cNvPr id="1128675939" name="N"/>
          <p:cNvSpPr/>
          <p:nvPr/>
        </p:nvSpPr>
        <p:spPr bwMode="auto">
          <a:xfrm>
            <a:off x="11468100" y="3962993"/>
            <a:ext cx="6553200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ru-RU" sz="4000" b="1" spc="-75">
                <a:solidFill>
                  <a:srgbClr val="325CA8"/>
                </a:solidFill>
                <a:latin typeface="Montserrat"/>
                <a:ea typeface="Montserrat Bold"/>
                <a:cs typeface="Montserrat Bold"/>
              </a:rPr>
              <a:t>Морозенко Максим Андреевич</a:t>
            </a:r>
            <a:br>
              <a:rPr lang="en-US" sz="2400" b="1" spc="-75">
                <a:solidFill>
                  <a:srgbClr val="325CA8"/>
                </a:solidFill>
                <a:latin typeface="Montserrat Medium"/>
                <a:ea typeface="Montserrat Bold"/>
                <a:cs typeface="Montserrat Bold"/>
              </a:rPr>
            </a:br>
            <a:r>
              <a:rPr lang="ru-RU" sz="2400" spc="-74">
                <a:solidFill>
                  <a:srgbClr val="325CA8"/>
                </a:solidFill>
                <a:latin typeface="Montserrat Medium"/>
                <a:ea typeface="Montserrat Regular"/>
                <a:cs typeface="Montserrat Regular"/>
              </a:rPr>
              <a:t>ГБОУ школа №1329</a:t>
            </a:r>
            <a:r>
              <a:rPr lang="en-US" sz="2400" spc="-75">
                <a:solidFill>
                  <a:srgbClr val="325CA8"/>
                </a:solidFill>
                <a:latin typeface="Montserrat Medium"/>
                <a:ea typeface="Montserrat Regular"/>
                <a:cs typeface="Montserrat Regular"/>
              </a:rPr>
              <a:t>, </a:t>
            </a:r>
            <a:br>
              <a:rPr lang="ru-RU" sz="2400" spc="-75">
                <a:solidFill>
                  <a:srgbClr val="325CA8"/>
                </a:solidFill>
                <a:latin typeface="Montserrat Medium"/>
                <a:ea typeface="Montserrat Regular"/>
                <a:cs typeface="Montserrat Regular"/>
              </a:rPr>
            </a:br>
            <a:r>
              <a:rPr lang="ru-RU" sz="2400" spc="-74">
                <a:solidFill>
                  <a:srgbClr val="325CA8"/>
                </a:solidFill>
                <a:latin typeface="Montserrat Medium"/>
                <a:ea typeface="Montserrat Regular"/>
                <a:cs typeface="Montserrat Regular"/>
              </a:rPr>
              <a:t>10Т</a:t>
            </a:r>
            <a:endParaRPr lang="en-US" sz="2400">
              <a:solidFill>
                <a:srgbClr val="325CA8"/>
              </a:solidFill>
              <a:latin typeface="Montserrat Medium"/>
            </a:endParaRPr>
          </a:p>
        </p:txBody>
      </p:sp>
      <p:sp>
        <p:nvSpPr>
          <p:cNvPr id="934859333" name="N"/>
          <p:cNvSpPr/>
          <p:nvPr/>
        </p:nvSpPr>
        <p:spPr bwMode="auto">
          <a:xfrm>
            <a:off x="11468100" y="6772275"/>
            <a:ext cx="655320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ru-RU" sz="2400" spc="-75">
                <a:solidFill>
                  <a:srgbClr val="5CC1CD"/>
                </a:solidFill>
                <a:latin typeface="Montserrat Medium"/>
                <a:ea typeface="Montserrat Regular"/>
                <a:cs typeface="Montserrat Regular"/>
              </a:rPr>
              <a:t>Руководитель проекта:</a:t>
            </a:r>
            <a:endParaRPr/>
          </a:p>
          <a:p>
            <a:pPr marL="0" indent="0" algn="l">
              <a:buNone/>
              <a:defRPr/>
            </a:pPr>
            <a:br>
              <a:rPr lang="en-US" sz="2400" b="1" spc="-75">
                <a:solidFill>
                  <a:srgbClr val="325CA8"/>
                </a:solidFill>
                <a:latin typeface="Montserrat Medium"/>
                <a:ea typeface="Montserrat Bold"/>
                <a:cs typeface="Montserrat Bold"/>
              </a:rPr>
            </a:br>
            <a:r>
              <a:rPr lang="ru-RU" sz="2400" spc="-75">
                <a:solidFill>
                  <a:srgbClr val="325CA8"/>
                </a:solidFill>
                <a:latin typeface="Montserrat Medium"/>
                <a:ea typeface="Montserrat Regular"/>
                <a:cs typeface="Montserrat Regular"/>
              </a:rPr>
              <a:t>преподаватель ДТ «Альтаир»</a:t>
            </a:r>
            <a:endParaRPr/>
          </a:p>
          <a:p>
            <a:pPr marL="0" indent="0" algn="l">
              <a:buNone/>
              <a:defRPr/>
            </a:pPr>
            <a:r>
              <a:rPr lang="ru-RU" sz="4000" b="1" spc="-75">
                <a:solidFill>
                  <a:srgbClr val="325CA8"/>
                </a:solidFill>
                <a:latin typeface="Montserrat"/>
              </a:rPr>
              <a:t>БОРИСОВ АРТЁМ ИГОРЕВИЧ</a:t>
            </a:r>
            <a:endParaRPr lang="en-US" sz="4000" b="1">
              <a:solidFill>
                <a:srgbClr val="325CA8"/>
              </a:solidFill>
              <a:latin typeface="Montserrat"/>
            </a:endParaRPr>
          </a:p>
        </p:txBody>
      </p:sp>
      <p:pic>
        <p:nvPicPr>
          <p:cNvPr id="1084855153" name="Рисунок 9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6075771" y="160303"/>
            <a:ext cx="1945529" cy="1375128"/>
          </a:xfrm>
          <a:prstGeom prst="rect">
            <a:avLst/>
          </a:prstGeom>
        </p:spPr>
      </p:pic>
      <p:cxnSp>
        <p:nvCxnSpPr>
          <p:cNvPr id="657840242" name="Прямая соединительная линия 11"/>
          <p:cNvCxnSpPr/>
          <p:nvPr/>
        </p:nvCxnSpPr>
        <p:spPr bwMode="auto">
          <a:xfrm flipH="1">
            <a:off x="11468100" y="3810000"/>
            <a:ext cx="6819900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6488773" name="Прямая соединительная линия 12"/>
          <p:cNvCxnSpPr/>
          <p:nvPr/>
        </p:nvCxnSpPr>
        <p:spPr bwMode="auto">
          <a:xfrm flipH="1">
            <a:off x="11468100" y="7341870"/>
            <a:ext cx="6838950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6473839" name="N"/>
          <p:cNvSpPr/>
          <p:nvPr/>
        </p:nvSpPr>
        <p:spPr bwMode="auto">
          <a:xfrm>
            <a:off x="11468100" y="1610678"/>
            <a:ext cx="6553200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2400" spc="-75">
                <a:solidFill>
                  <a:srgbClr val="5CC1CD"/>
                </a:solidFill>
                <a:latin typeface="Montserrat Medium"/>
                <a:ea typeface="Montserrat Regular"/>
                <a:cs typeface="Montserrat Regular"/>
              </a:rPr>
              <a:t>Проект</a:t>
            </a:r>
            <a:r>
              <a:rPr lang="en-US" sz="2400" spc="-75">
                <a:solidFill>
                  <a:srgbClr val="5CC1CD"/>
                </a:solidFill>
                <a:latin typeface="Montserrat Medium"/>
                <a:ea typeface="Montserrat Regular"/>
                <a:cs typeface="Montserrat Regular"/>
              </a:rPr>
              <a:t> выполнил(а)</a:t>
            </a:r>
            <a:r>
              <a:rPr lang="ru-RU" sz="2400" spc="-75">
                <a:solidFill>
                  <a:srgbClr val="5CC1CD"/>
                </a:solidFill>
                <a:latin typeface="Montserrat Medium"/>
                <a:ea typeface="Montserrat Regular"/>
                <a:cs typeface="Montserrat Regular"/>
              </a:rPr>
              <a:t>:</a:t>
            </a:r>
            <a:endParaRPr lang="en-US" sz="2400">
              <a:solidFill>
                <a:srgbClr val="325CA8"/>
              </a:solidFill>
              <a:latin typeface="Montserrat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80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506733" name="Text 1"/>
          <p:cNvSpPr/>
          <p:nvPr/>
        </p:nvSpPr>
        <p:spPr bwMode="auto">
          <a:xfrm flipH="0" flipV="0">
            <a:off x="1198217" y="2418861"/>
            <a:ext cx="14135057" cy="6331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8080" indent="-438080">
              <a:buFont typeface="Arial"/>
              <a:buAutoNum type="arabicPeriod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Снижение порога входа в Linux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 Переход на отечественное ПО (Astra Linux, Alt Linux, ROSA) требует от пользователей и системных администраторов работы в среде Linux, однако необходимость изучать синтаксис терминала отпугивает новичков.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Вопросы приватности и безопасности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 Облачные ИИ-ассистенты не подходят для системного администрирования, так как передача данных о файловой системе и конфигурациях во внешние API создает риски утечки.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Потребность в автономности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 Пользователю нужен помощник, который возьмет на себя рутину (поиск файлов, установка пакетов) и выполнит её безопасно, без необходимости </a:t>
            </a: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подтверждать каждое действие.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438080" indent="-438080" algn="l">
              <a:lnSpc>
                <a:spcPts val="4320"/>
              </a:lnSpc>
              <a:spcAft>
                <a:spcPts val="4500"/>
              </a:spcAft>
              <a:buAutoNum type="arabicPeriod"/>
              <a:defRPr/>
            </a:pPr>
            <a:endParaRPr lang="ru-RU" sz="3200">
              <a:latin typeface="Montserrat Medium"/>
              <a:ea typeface="Inter Regular"/>
            </a:endParaRPr>
          </a:p>
        </p:txBody>
      </p:sp>
      <p:pic>
        <p:nvPicPr>
          <p:cNvPr id="131389828" name="Рисунок 3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6075771" y="619260"/>
            <a:ext cx="1945529" cy="1375128"/>
          </a:xfrm>
          <a:prstGeom prst="rect">
            <a:avLst/>
          </a:prstGeom>
        </p:spPr>
      </p:pic>
      <p:sp>
        <p:nvSpPr>
          <p:cNvPr id="601057007" name="Скругленный прямоугольник 5"/>
          <p:cNvSpPr/>
          <p:nvPr/>
        </p:nvSpPr>
        <p:spPr bwMode="auto">
          <a:xfrm>
            <a:off x="-1579418" y="619260"/>
            <a:ext cx="10723417" cy="137512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353A0"/>
              </a:gs>
              <a:gs pos="50000">
                <a:srgbClr val="3392C3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4305847" name="default_name"/>
          <p:cNvSpPr/>
          <p:nvPr/>
        </p:nvSpPr>
        <p:spPr bwMode="auto">
          <a:xfrm>
            <a:off x="1143000" y="720583"/>
            <a:ext cx="8188036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ru-RU" sz="7200" b="1">
                <a:solidFill>
                  <a:schemeClr val="bg1"/>
                </a:solidFill>
                <a:latin typeface="Montserrat"/>
                <a:ea typeface="Inter Medium"/>
                <a:cs typeface="Inter Medium"/>
              </a:rPr>
              <a:t>Актуальность</a:t>
            </a:r>
            <a:endParaRPr lang="en-US" sz="7200" b="1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1156992308" name="Google Shape;92;p32"/>
          <p:cNvSpPr txBox="1"/>
          <p:nvPr/>
        </p:nvSpPr>
        <p:spPr bwMode="auto"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  <a:defRPr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/>
              </a:rPr>
              <a:t>2</a:t>
            </a:fld>
            <a:r>
              <a:rPr lang="ru-RU" sz="2600">
                <a:solidFill>
                  <a:srgbClr val="3353A0"/>
                </a:solidFill>
                <a:latin typeface="Montserrat Medium"/>
              </a:rPr>
              <a:t>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blipFill rotWithShape="1">
          <a:blip r:embed="rId3">
            <a:alphaModFix amt="80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522191" name="Скругленный прямоугольник 5"/>
          <p:cNvSpPr/>
          <p:nvPr/>
        </p:nvSpPr>
        <p:spPr bwMode="auto">
          <a:xfrm>
            <a:off x="-375138" y="1194858"/>
            <a:ext cx="5244320" cy="137512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353A0"/>
              </a:gs>
              <a:gs pos="50000">
                <a:srgbClr val="3392C3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86729650" name="Text 1"/>
          <p:cNvSpPr/>
          <p:nvPr/>
        </p:nvSpPr>
        <p:spPr bwMode="auto">
          <a:xfrm>
            <a:off x="1143000" y="2931206"/>
            <a:ext cx="68770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Цель: Разработать локального ИИ-агента с графическим интерфейсом для автономного выполнения системных задач в Linux, принимающего запросы на русском языке.</a:t>
            </a:r>
            <a:endParaRPr lang="en-US" sz="3200">
              <a:latin typeface="Montserrat Medium"/>
            </a:endParaRPr>
          </a:p>
        </p:txBody>
      </p:sp>
      <p:sp>
        <p:nvSpPr>
          <p:cNvPr id="166056866" name="default_name"/>
          <p:cNvSpPr/>
          <p:nvPr/>
        </p:nvSpPr>
        <p:spPr bwMode="auto">
          <a:xfrm>
            <a:off x="9932670" y="1393986"/>
            <a:ext cx="66865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  <a:defRPr/>
            </a:pPr>
            <a:r>
              <a:rPr lang="en-US" sz="5400" b="1">
                <a:solidFill>
                  <a:srgbClr val="325CA8"/>
                </a:solidFill>
                <a:latin typeface="Montserrat"/>
                <a:ea typeface="Inter Medium"/>
                <a:cs typeface="Inter Medium"/>
              </a:rPr>
              <a:t>Задачи</a:t>
            </a:r>
            <a:endParaRPr lang="en-US" sz="6750" b="1">
              <a:solidFill>
                <a:srgbClr val="325CA8"/>
              </a:solidFill>
              <a:latin typeface="Montserrat"/>
            </a:endParaRPr>
          </a:p>
        </p:txBody>
      </p:sp>
      <p:sp>
        <p:nvSpPr>
          <p:cNvPr id="382527803" name="default_name"/>
          <p:cNvSpPr/>
          <p:nvPr/>
        </p:nvSpPr>
        <p:spPr bwMode="auto">
          <a:xfrm>
            <a:off x="1143000" y="1393986"/>
            <a:ext cx="2661053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  <a:defRPr/>
            </a:pPr>
            <a:r>
              <a:rPr lang="ru-RU" sz="7200" b="1">
                <a:solidFill>
                  <a:schemeClr val="bg1"/>
                </a:solidFill>
                <a:latin typeface="Montserrat"/>
                <a:ea typeface="Inter Medium"/>
                <a:cs typeface="Inter Medium"/>
              </a:rPr>
              <a:t>Цель</a:t>
            </a:r>
            <a:endParaRPr lang="en-US" sz="7200" b="1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2093715764" name="Text 1"/>
          <p:cNvSpPr/>
          <p:nvPr/>
        </p:nvSpPr>
        <p:spPr bwMode="auto">
          <a:xfrm flipH="0" flipV="0">
            <a:off x="9490930" y="2931206"/>
            <a:ext cx="7858960" cy="706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Реализовать графический интерфейс (PyQt6) и архитектуру приложения.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ea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Разработать модуль автоопределения дистрибутива и работы над пакетными менеджерами.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Создать систему верификации опасных команд для предотвращения повреждения системы.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Исследовать и выбрать компактную языковую модель для локального запуска.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514350" indent="-514350" algn="l">
              <a:lnSpc>
                <a:spcPts val="4320"/>
              </a:lnSpc>
              <a:spcAft>
                <a:spcPts val="4500"/>
              </a:spcAft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Провести дообучение модели (в планах</a:t>
            </a:r>
            <a:r>
              <a:rPr lang="en-US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 QLoRA) на специализированном датасете.</a:t>
            </a:r>
            <a:endParaRPr/>
          </a:p>
        </p:txBody>
      </p:sp>
      <p:pic>
        <p:nvPicPr>
          <p:cNvPr id="1235386764" name="Рисунок 18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801899468" name="Прямоугольник 2"/>
          <p:cNvSpPr/>
          <p:nvPr/>
        </p:nvSpPr>
        <p:spPr bwMode="auto">
          <a:xfrm>
            <a:off x="9845646" y="2459458"/>
            <a:ext cx="8654110" cy="131848"/>
          </a:xfrm>
          <a:prstGeom prst="rect">
            <a:avLst/>
          </a:prstGeom>
          <a:gradFill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53854628" name="Google Shape;92;p32"/>
          <p:cNvSpPr txBox="1"/>
          <p:nvPr/>
        </p:nvSpPr>
        <p:spPr bwMode="auto"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  <a:defRPr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/>
              </a:rPr>
              <a:t>3</a:t>
            </a:fld>
            <a:r>
              <a:rPr lang="ru-RU" sz="2600">
                <a:solidFill>
                  <a:srgbClr val="3353A0"/>
                </a:solidFill>
                <a:latin typeface="Montserrat Medium"/>
              </a:rPr>
              <a:t>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80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706107" name="Рисунок 3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6075771" y="619260"/>
            <a:ext cx="1945529" cy="1375128"/>
          </a:xfrm>
          <a:prstGeom prst="rect">
            <a:avLst/>
          </a:prstGeom>
        </p:spPr>
      </p:pic>
      <p:sp>
        <p:nvSpPr>
          <p:cNvPr id="42664105" name="Text 1"/>
          <p:cNvSpPr/>
          <p:nvPr/>
        </p:nvSpPr>
        <p:spPr bwMode="auto">
          <a:xfrm flipH="0" flipV="0">
            <a:off x="720967" y="3462827"/>
            <a:ext cx="16950009" cy="4842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Интерфейс: PyQt6. 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Взаимодействие с ОС: Агент определяет среду через /etc/os-release и вызывает нативные утилиты через безопасные программные обёртки, а не через прямой доступ к shell.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Безопасность: Анализ флагов и путей, выполнение dry-run, запрос подтверждения пользователя только при критических рисках.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Дообучение модели: 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838130" lvl="1" indent="-438080">
              <a:buAutoNum type="alphaLcParenR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    Сборка датасета (пары «запрос → план действий → вызов инструмента»).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838130" lvl="1" indent="-438080">
              <a:buAutoNum type="alphaLcParenR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    Квантование базовой модели (при использовании QLoRA) и обучение только адаптеров, что позволяет уместить процесс в 8 ГБ VRAM.</a:t>
            </a:r>
            <a:endParaRPr lang="ru-RU" sz="3200" b="0" i="0" u="none" strike="noStrike" cap="none" spc="0">
              <a:solidFill>
                <a:schemeClr val="tx1"/>
              </a:solidFill>
              <a:latin typeface="Montserrat Medium"/>
              <a:cs typeface="Montserrat Medium"/>
            </a:endParaRPr>
          </a:p>
          <a:p>
            <a:pPr marL="838130" lvl="1" indent="-438080" algn="l">
              <a:lnSpc>
                <a:spcPts val="4320"/>
              </a:lnSpc>
              <a:spcAft>
                <a:spcPts val="4500"/>
              </a:spcAft>
              <a:buAutoNum type="alphaLcParenR"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</a:rPr>
              <a:t>    Сравнительное тестирование базовой и дообученной модели на целевом ноутбуке по скорости и качеству ответов.</a:t>
            </a:r>
            <a:endParaRPr lang="en-US" sz="3200">
              <a:latin typeface="Montserrat Medium"/>
            </a:endParaRPr>
          </a:p>
        </p:txBody>
      </p:sp>
      <p:sp>
        <p:nvSpPr>
          <p:cNvPr id="172599983" name="default_name"/>
          <p:cNvSpPr/>
          <p:nvPr/>
        </p:nvSpPr>
        <p:spPr bwMode="auto">
          <a:xfrm>
            <a:off x="1143000" y="862123"/>
            <a:ext cx="10383982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ru-RU" sz="7200" b="1">
                <a:solidFill>
                  <a:srgbClr val="325BA7"/>
                </a:solidFill>
                <a:latin typeface="Montserrat"/>
                <a:ea typeface="Inter Medium"/>
                <a:cs typeface="Inter Medium"/>
              </a:rPr>
              <a:t>Методика</a:t>
            </a:r>
            <a:endParaRPr/>
          </a:p>
          <a:p>
            <a:pPr marL="0" indent="0" algn="l">
              <a:buNone/>
              <a:defRPr/>
            </a:pPr>
            <a:r>
              <a:rPr lang="ru-RU" sz="7200" b="1">
                <a:solidFill>
                  <a:srgbClr val="325BA7"/>
                </a:solidFill>
                <a:latin typeface="Montserrat"/>
                <a:ea typeface="Inter Medium"/>
              </a:rPr>
              <a:t>выполнения работы</a:t>
            </a:r>
            <a:endParaRPr lang="en-US" sz="7200" b="1">
              <a:solidFill>
                <a:srgbClr val="325BA7"/>
              </a:solidFill>
              <a:latin typeface="Montserrat"/>
            </a:endParaRPr>
          </a:p>
        </p:txBody>
      </p:sp>
      <p:sp>
        <p:nvSpPr>
          <p:cNvPr id="342534047" name="Прямоугольник 10"/>
          <p:cNvSpPr/>
          <p:nvPr/>
        </p:nvSpPr>
        <p:spPr bwMode="auto">
          <a:xfrm>
            <a:off x="-1" y="3188111"/>
            <a:ext cx="12671425" cy="131848"/>
          </a:xfrm>
          <a:prstGeom prst="rect">
            <a:avLst/>
          </a:prstGeom>
          <a:gradFill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0628518" name="Google Shape;92;p32"/>
          <p:cNvSpPr txBox="1"/>
          <p:nvPr/>
        </p:nvSpPr>
        <p:spPr bwMode="auto"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  <a:defRPr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/>
              </a:rPr>
              <a:t>4</a:t>
            </a:fld>
            <a:r>
              <a:rPr lang="ru-RU" sz="2600">
                <a:solidFill>
                  <a:srgbClr val="3353A0"/>
                </a:solidFill>
                <a:latin typeface="Montserrat Medium"/>
              </a:rPr>
              <a:t>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80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894196" name="Text 1"/>
          <p:cNvSpPr/>
          <p:nvPr/>
        </p:nvSpPr>
        <p:spPr bwMode="auto">
          <a:xfrm>
            <a:off x="1143000" y="2584070"/>
            <a:ext cx="6877050" cy="16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8080" indent="-438080" algn="l">
              <a:lnSpc>
                <a:spcPts val="4320"/>
              </a:lnSpc>
              <a:spcAft>
                <a:spcPts val="4500"/>
              </a:spcAft>
              <a:buFont typeface="Arial"/>
              <a:buChar char="•"/>
              <a:defRPr/>
            </a:pPr>
            <a:r>
              <a:rPr lang="ru-RU" sz="3200">
                <a:solidFill>
                  <a:srgbClr val="1C1628"/>
                </a:solidFill>
                <a:latin typeface="Montserrat Medium"/>
                <a:ea typeface="Inter Regular"/>
                <a:cs typeface="Inter Regular"/>
              </a:rPr>
              <a:t>Язык программирования</a:t>
            </a:r>
            <a:r>
              <a:rPr lang="en-US" sz="3200">
                <a:solidFill>
                  <a:srgbClr val="1C1628"/>
                </a:solidFill>
                <a:latin typeface="Montserrat Medium"/>
                <a:ea typeface="Inter Regular"/>
                <a:cs typeface="Inter Regular"/>
              </a:rPr>
              <a:t>: Python 3.13</a:t>
            </a:r>
            <a:endParaRPr lang="en-US" sz="3200">
              <a:solidFill>
                <a:srgbClr val="1C1628"/>
              </a:solidFill>
              <a:latin typeface="Montserrat Medium"/>
              <a:ea typeface="Inter Regular"/>
              <a:cs typeface="Inter Regular"/>
            </a:endParaRPr>
          </a:p>
          <a:p>
            <a:pPr marL="438080" indent="-438080" algn="l">
              <a:lnSpc>
                <a:spcPts val="4320"/>
              </a:lnSpc>
              <a:spcAft>
                <a:spcPts val="4500"/>
              </a:spcAft>
              <a:buFont typeface="Arial"/>
              <a:buChar char="•"/>
              <a:defRPr/>
            </a:pPr>
            <a:r>
              <a:rPr lang="ru-RU" sz="3200">
                <a:solidFill>
                  <a:srgbClr val="1C1628"/>
                </a:solidFill>
                <a:latin typeface="Montserrat Medium"/>
                <a:ea typeface="Inter Regular"/>
                <a:cs typeface="Inter Regular"/>
              </a:rPr>
              <a:t>Инструменты разработки</a:t>
            </a:r>
            <a:r>
              <a:rPr lang="en-US" sz="3200">
                <a:solidFill>
                  <a:srgbClr val="1C1628"/>
                </a:solidFill>
                <a:latin typeface="Montserrat Medium"/>
                <a:ea typeface="Inter Regular"/>
                <a:cs typeface="Inter Regular"/>
              </a:rPr>
              <a:t>: Qt Designer, Visual Studio Code</a:t>
            </a:r>
            <a:endParaRPr lang="en-US" sz="3200">
              <a:solidFill>
                <a:srgbClr val="1C1628"/>
              </a:solidFill>
              <a:latin typeface="Montserrat Medium"/>
              <a:ea typeface="Inter Regular"/>
              <a:cs typeface="Inter Regular"/>
            </a:endParaRPr>
          </a:p>
          <a:p>
            <a:pPr marL="438080" indent="-438080" algn="l">
              <a:lnSpc>
                <a:spcPts val="4320"/>
              </a:lnSpc>
              <a:spcAft>
                <a:spcPts val="4500"/>
              </a:spcAft>
              <a:buFont typeface="Arial"/>
              <a:buChar char="•"/>
              <a:defRPr/>
            </a:pPr>
            <a:r>
              <a:rPr lang="ru-RU" sz="3200">
                <a:solidFill>
                  <a:srgbClr val="1C1628"/>
                </a:solidFill>
                <a:latin typeface="Montserrat Medium"/>
                <a:ea typeface="Inter Regular"/>
                <a:cs typeface="Inter Regular"/>
              </a:rPr>
              <a:t>Библиотеки</a:t>
            </a:r>
            <a:r>
              <a:rPr lang="en-US" sz="3200">
                <a:solidFill>
                  <a:srgbClr val="1C1628"/>
                </a:solidFill>
                <a:latin typeface="Montserrat Medium"/>
                <a:ea typeface="Inter Regular"/>
                <a:cs typeface="Inter Regular"/>
              </a:rPr>
              <a:t>: </a:t>
            </a:r>
            <a:r>
              <a:rPr lang="en-US" sz="3200">
                <a:solidFill>
                  <a:srgbClr val="1C1628"/>
                </a:solidFill>
                <a:latin typeface="Montserrat Medium"/>
                <a:ea typeface="Inter Regular"/>
                <a:cs typeface="Inter Regular"/>
              </a:rPr>
              <a:t>PyQt6, PyTorch, PEFT, transformers</a:t>
            </a:r>
            <a:r>
              <a:rPr lang="ru-RU" sz="3200">
                <a:solidFill>
                  <a:srgbClr val="1C1628"/>
                </a:solidFill>
                <a:latin typeface="Montserrat Medium"/>
                <a:ea typeface="Inter Regular"/>
                <a:cs typeface="Inter Regular"/>
              </a:rPr>
              <a:t>, </a:t>
            </a: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bitsandbytes</a:t>
            </a:r>
            <a:endParaRPr lang="en-US" sz="3200">
              <a:solidFill>
                <a:srgbClr val="1C1628"/>
              </a:solidFill>
              <a:latin typeface="Montserrat Medium"/>
              <a:ea typeface="Inter Regular"/>
              <a:cs typeface="Inter Regular"/>
            </a:endParaRPr>
          </a:p>
          <a:p>
            <a:pPr marL="438080" indent="-438080" algn="l">
              <a:lnSpc>
                <a:spcPts val="4320"/>
              </a:lnSpc>
              <a:spcAft>
                <a:spcPts val="4500"/>
              </a:spcAft>
              <a:buFont typeface="Arial"/>
              <a:buChar char="•"/>
              <a:defRPr/>
            </a:pPr>
            <a:endParaRPr lang="en-US" sz="3200">
              <a:latin typeface="Montserrat Medium"/>
            </a:endParaRPr>
          </a:p>
        </p:txBody>
      </p:sp>
      <p:sp>
        <p:nvSpPr>
          <p:cNvPr id="170287568" name="Text 3"/>
          <p:cNvSpPr/>
          <p:nvPr/>
        </p:nvSpPr>
        <p:spPr bwMode="auto">
          <a:xfrm>
            <a:off x="9932670" y="3268764"/>
            <a:ext cx="6686550" cy="277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8080" indent="-438080">
              <a:buFont typeface="Arial"/>
              <a:buChar char="•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Для запуска агента (ноутбук): Intel Core i5-6300HQ, 8 ГБ ОЗУ, NVIDIA GeForce GTX 950M.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Font typeface="Arial"/>
              <a:buChar char="•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Для экспериментов и дообучения (ПК): Intel Xeon E5-2667, 16 ГБ ОЗУ, NVIDIA RTX 2070 (8 ГБ VRAM)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</p:txBody>
      </p:sp>
      <p:sp>
        <p:nvSpPr>
          <p:cNvPr id="884837007" name="default_name"/>
          <p:cNvSpPr/>
          <p:nvPr/>
        </p:nvSpPr>
        <p:spPr bwMode="auto">
          <a:xfrm flipH="0" flipV="0">
            <a:off x="9932670" y="1046189"/>
            <a:ext cx="6686550" cy="137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ru-RU" sz="4400" b="1">
                <a:solidFill>
                  <a:srgbClr val="325CA8"/>
                </a:solidFill>
                <a:latin typeface="Montserrat"/>
                <a:ea typeface="Inter Medium"/>
                <a:cs typeface="Inter Medium"/>
              </a:rPr>
              <a:t>Оборудование </a:t>
            </a:r>
            <a:br>
              <a:rPr lang="ru-RU" sz="4400" b="1">
                <a:solidFill>
                  <a:srgbClr val="325CA8"/>
                </a:solidFill>
                <a:latin typeface="Montserrat"/>
                <a:ea typeface="Inter Medium"/>
                <a:cs typeface="Inter Medium"/>
              </a:rPr>
            </a:br>
            <a:endParaRPr lang="en-US" sz="6000" b="1">
              <a:solidFill>
                <a:srgbClr val="325CA8"/>
              </a:solidFill>
              <a:latin typeface="Montserrat"/>
            </a:endParaRPr>
          </a:p>
        </p:txBody>
      </p:sp>
      <p:cxnSp>
        <p:nvCxnSpPr>
          <p:cNvPr id="45712169" name="Прямая соединительная линия 8"/>
          <p:cNvCxnSpPr/>
          <p:nvPr/>
        </p:nvCxnSpPr>
        <p:spPr bwMode="auto">
          <a:xfrm>
            <a:off x="9932670" y="2627714"/>
            <a:ext cx="4593821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5446058" name="default_name"/>
          <p:cNvSpPr/>
          <p:nvPr/>
        </p:nvSpPr>
        <p:spPr bwMode="auto">
          <a:xfrm>
            <a:off x="1143000" y="1046190"/>
            <a:ext cx="6686550" cy="71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ru-RU" sz="4400" b="1">
                <a:solidFill>
                  <a:srgbClr val="325CA8"/>
                </a:solidFill>
                <a:latin typeface="Montserrat"/>
                <a:ea typeface="Inter Medium"/>
                <a:cs typeface="Inter Medium"/>
              </a:rPr>
              <a:t>Материалы</a:t>
            </a:r>
            <a:endParaRPr lang="en-US" sz="4400" b="1">
              <a:solidFill>
                <a:srgbClr val="325CA8"/>
              </a:solidFill>
              <a:latin typeface="Montserrat"/>
            </a:endParaRPr>
          </a:p>
        </p:txBody>
      </p:sp>
      <p:pic>
        <p:nvPicPr>
          <p:cNvPr id="516365880" name="Рисунок 15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962806141" name="Прямоугольник 1"/>
          <p:cNvSpPr/>
          <p:nvPr/>
        </p:nvSpPr>
        <p:spPr bwMode="auto">
          <a:xfrm>
            <a:off x="9845646" y="2584070"/>
            <a:ext cx="8442354" cy="131848"/>
          </a:xfrm>
          <a:prstGeom prst="rect">
            <a:avLst/>
          </a:prstGeom>
          <a:gradFill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55079651" name="Прямоугольник 2"/>
          <p:cNvSpPr/>
          <p:nvPr/>
        </p:nvSpPr>
        <p:spPr bwMode="auto">
          <a:xfrm rot="10800000">
            <a:off x="0" y="1870025"/>
            <a:ext cx="8654110" cy="131848"/>
          </a:xfrm>
          <a:prstGeom prst="rect">
            <a:avLst/>
          </a:prstGeom>
          <a:gradFill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09063111" name="Google Shape;92;p32"/>
          <p:cNvSpPr txBox="1"/>
          <p:nvPr/>
        </p:nvSpPr>
        <p:spPr bwMode="auto"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  <a:defRPr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/>
              </a:rPr>
              <a:t>5</a:t>
            </a:fld>
            <a:r>
              <a:rPr lang="ru-RU" sz="2600">
                <a:solidFill>
                  <a:srgbClr val="3353A0"/>
                </a:solidFill>
                <a:latin typeface="Montserrat Medium"/>
              </a:rPr>
              <a:t>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80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50549" name="Скругленный прямоугольник 4"/>
          <p:cNvSpPr/>
          <p:nvPr/>
        </p:nvSpPr>
        <p:spPr bwMode="auto">
          <a:xfrm>
            <a:off x="-921096" y="619260"/>
            <a:ext cx="8434005" cy="137512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3353A0"/>
              </a:gs>
              <a:gs pos="50000">
                <a:srgbClr val="3392C3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15583558" name="Text 1"/>
          <p:cNvSpPr/>
          <p:nvPr/>
        </p:nvSpPr>
        <p:spPr bwMode="auto">
          <a:xfrm flipH="0" flipV="0">
            <a:off x="1143000" y="3043444"/>
            <a:ext cx="15905535" cy="599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Десктопное приложение с графическим интерфейсом для Linux-систем.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ИИ-агент, выполняющий безопасные задачи автономно и понимающий русскоязычные запросы.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Кросс-платформенный модуль поддержки различных дистрибутивов, включая российские (Astra Linux, Alt Linux, ROSA).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Система верификации опасных команд, защищающая от случайного повреждения системы.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Дообученная языковая модель (или адаптеры), специализированная под системное администрирование.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lnSpc>
                <a:spcPts val="4320"/>
              </a:lnSpc>
              <a:spcAft>
                <a:spcPts val="4500"/>
              </a:spcAft>
              <a:buAutoNum type="arabicPeriod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Исходный код и техническая документация с обоснованием выбора модели и методики дообучения.</a:t>
            </a:r>
            <a:endParaRPr lang="ru-RU" sz="3200">
              <a:solidFill>
                <a:srgbClr val="1C1628"/>
              </a:solidFill>
              <a:latin typeface="Montserrat Medium"/>
              <a:ea typeface="Inter Regular"/>
              <a:cs typeface="Inter Regular"/>
            </a:endParaRPr>
          </a:p>
          <a:p>
            <a:pPr marL="438080" indent="-438080">
              <a:lnSpc>
                <a:spcPts val="4320"/>
              </a:lnSpc>
              <a:spcAft>
                <a:spcPts val="4500"/>
              </a:spcAft>
              <a:buAutoNum type="arabicPeriod"/>
              <a:defRPr/>
            </a:pPr>
            <a:endParaRPr lang="ru-RU" sz="3200">
              <a:solidFill>
                <a:srgbClr val="1C1628"/>
              </a:solidFill>
              <a:latin typeface="Montserrat Medium"/>
              <a:ea typeface="Inter Regular"/>
              <a:cs typeface="Inter Regular"/>
            </a:endParaRPr>
          </a:p>
        </p:txBody>
      </p:sp>
      <p:sp>
        <p:nvSpPr>
          <p:cNvPr id="1179966981" name="default_name"/>
          <p:cNvSpPr/>
          <p:nvPr/>
        </p:nvSpPr>
        <p:spPr bwMode="auto">
          <a:xfrm>
            <a:off x="1143000" y="720583"/>
            <a:ext cx="6048632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ru-RU" sz="7200" b="1">
                <a:solidFill>
                  <a:schemeClr val="bg1"/>
                </a:solidFill>
                <a:latin typeface="Montserrat"/>
                <a:ea typeface="Inter Medium"/>
                <a:cs typeface="Inter Medium"/>
              </a:rPr>
              <a:t>Что будет</a:t>
            </a:r>
            <a:r>
              <a:rPr lang="en-US" sz="7200" b="1">
                <a:solidFill>
                  <a:schemeClr val="bg1"/>
                </a:solidFill>
                <a:latin typeface="Montserrat"/>
                <a:ea typeface="Inter Medium"/>
                <a:cs typeface="Inter Medium"/>
              </a:rPr>
              <a:t>?</a:t>
            </a:r>
            <a:endParaRPr lang="en-US" sz="7200" b="1">
              <a:solidFill>
                <a:schemeClr val="bg1"/>
              </a:solidFill>
              <a:latin typeface="Montserrat"/>
            </a:endParaRPr>
          </a:p>
        </p:txBody>
      </p:sp>
      <p:pic>
        <p:nvPicPr>
          <p:cNvPr id="1615258582" name="Рисунок 15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1257292090" name="Google Shape;92;p32"/>
          <p:cNvSpPr txBox="1"/>
          <p:nvPr/>
        </p:nvSpPr>
        <p:spPr bwMode="auto"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  <a:defRPr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/>
              </a:rPr>
              <a:t>6</a:t>
            </a:fld>
            <a:r>
              <a:rPr lang="ru-RU" sz="2600">
                <a:solidFill>
                  <a:srgbClr val="3353A0"/>
                </a:solidFill>
                <a:latin typeface="Montserrat Medium"/>
              </a:rPr>
              <a:t>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 amt="80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388093" name="Text 1"/>
          <p:cNvSpPr/>
          <p:nvPr/>
        </p:nvSpPr>
        <p:spPr bwMode="auto">
          <a:xfrm>
            <a:off x="1087781" y="3319958"/>
            <a:ext cx="16573499" cy="5769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8080" indent="-438080">
              <a:buFont typeface="Arial"/>
              <a:buChar char="•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Python Software Foundation. Python 3.13 Documentation [Электронный ресурс] // Официальная документация Python. – URL: https://docs.python.org/3.13/ (дата обращения: 20.10.2026).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Font typeface="Arial"/>
              <a:buChar char="•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Riverbank Computing. PyQt6 Reference Guide [Электронный ресурс] // Официальная документация PyQt6. – URL: https://www.riverbankcomputing.com/static/Docs/PyQt6/ (дата обращения: 20.10.2026).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Font typeface="Arial"/>
              <a:buChar char="•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Arch Wiki. Pacman [Электронный ресурс] // Arch Linux Wiki. – URL: https://wiki.archlinux.org/title/Pacman (дата обращения: 20.10.2026).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>
              <a:buFont typeface="Arial"/>
              <a:buChar char="•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Dettmers T., Pagnoni A., Holtzman A., Zettlemoyer L. QLoRA: Efficient Finetuning of Quantized Language Models // Advances in Neural Information Processing Systems (NeurIPS). – 2023. – Vol. 36. – P. 1–18.</a:t>
            </a:r>
            <a:endParaRPr lang="ru-RU" sz="3200" b="0" i="0" u="none" strike="noStrike" cap="none" spc="0">
              <a:solidFill>
                <a:srgbClr val="1C1628"/>
              </a:solidFill>
              <a:latin typeface="Montserrat Medium"/>
              <a:cs typeface="Montserrat Medium"/>
            </a:endParaRPr>
          </a:p>
          <a:p>
            <a:pPr marL="438080" indent="-438080" algn="l">
              <a:lnSpc>
                <a:spcPts val="4320"/>
              </a:lnSpc>
              <a:spcAft>
                <a:spcPts val="4500"/>
              </a:spcAft>
              <a:buFont typeface="Arial"/>
              <a:buChar char="•"/>
              <a:defRPr/>
            </a:pPr>
            <a:r>
              <a:rPr lang="ru-RU" sz="3200" b="0" i="0" u="none" strike="noStrike" cap="none" spc="0">
                <a:solidFill>
                  <a:srgbClr val="1C1628"/>
                </a:solidFill>
                <a:latin typeface="Montserrat Medium"/>
                <a:ea typeface="Montserrat Medium"/>
                <a:cs typeface="Montserrat Medium"/>
              </a:rPr>
              <a:t>Hugging Face. Transformers, PEFT, and BitsAndBytes Documentation [Электронный ресурс] // Hugging Face. – URL: https://huggingface.co/docs (дата обращения: 20.10.2026).</a:t>
            </a:r>
            <a:endParaRPr lang="ru-RU" sz="3200">
              <a:solidFill>
                <a:srgbClr val="1C1628"/>
              </a:solidFill>
              <a:latin typeface="Montserrat Medium"/>
              <a:ea typeface="Inter Regular"/>
              <a:cs typeface="Inter Regular"/>
            </a:endParaRPr>
          </a:p>
        </p:txBody>
      </p:sp>
      <p:pic>
        <p:nvPicPr>
          <p:cNvPr id="154004624" name="Рисунок 4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557426180" name="Прямоугольник 3"/>
          <p:cNvSpPr/>
          <p:nvPr/>
        </p:nvSpPr>
        <p:spPr bwMode="auto">
          <a:xfrm>
            <a:off x="-2" y="3188111"/>
            <a:ext cx="14484351" cy="131848"/>
          </a:xfrm>
          <a:prstGeom prst="rect">
            <a:avLst/>
          </a:prstGeom>
          <a:gradFill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8038183" name="default_name"/>
          <p:cNvSpPr/>
          <p:nvPr/>
        </p:nvSpPr>
        <p:spPr bwMode="auto">
          <a:xfrm>
            <a:off x="1142999" y="862123"/>
            <a:ext cx="12656127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ru-RU" sz="7200" b="1">
                <a:solidFill>
                  <a:srgbClr val="325CA8"/>
                </a:solidFill>
                <a:latin typeface="Montserrat"/>
                <a:ea typeface="Inter Medium"/>
                <a:cs typeface="Inter Medium"/>
              </a:rPr>
              <a:t>Список использованных источников</a:t>
            </a:r>
            <a:endParaRPr/>
          </a:p>
        </p:txBody>
      </p:sp>
      <p:sp>
        <p:nvSpPr>
          <p:cNvPr id="1209605565" name="Google Shape;92;p32"/>
          <p:cNvSpPr txBox="1"/>
          <p:nvPr/>
        </p:nvSpPr>
        <p:spPr bwMode="auto"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  <a:defRPr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/>
              </a:rPr>
              <a:t>7</a:t>
            </a:fld>
            <a:r>
              <a:rPr lang="ru-RU" sz="2600">
                <a:solidFill>
                  <a:srgbClr val="3353A0"/>
                </a:solidFill>
                <a:latin typeface="Montserrat Medium"/>
              </a:rPr>
              <a:t> / 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ONLYOFFICE/10.0.0.169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14</cp:revision>
  <dcterms:created xsi:type="dcterms:W3CDTF">2025-01-14T09:23:53Z</dcterms:created>
  <dcterms:modified xsi:type="dcterms:W3CDTF">2026-10-19T18:05:11Z</dcterms:modified>
</cp:coreProperties>
</file>